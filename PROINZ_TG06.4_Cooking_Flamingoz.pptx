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17"/>
  </p:notesMasterIdLst>
  <p:sldIdLst>
    <p:sldId id="265" r:id="rId3"/>
    <p:sldId id="257" r:id="rId4"/>
    <p:sldId id="266" r:id="rId5"/>
    <p:sldId id="267" r:id="rId6"/>
    <p:sldId id="268" r:id="rId7"/>
    <p:sldId id="259" r:id="rId8"/>
    <p:sldId id="269" r:id="rId9"/>
    <p:sldId id="261" r:id="rId10"/>
    <p:sldId id="275" r:id="rId11"/>
    <p:sldId id="276" r:id="rId12"/>
    <p:sldId id="260" r:id="rId13"/>
    <p:sldId id="262" r:id="rId14"/>
    <p:sldId id="274" r:id="rId15"/>
    <p:sldId id="263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rednji stil 2 - Isticanj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5" autoAdjust="0"/>
    <p:restoredTop sz="97366" autoAdjust="0"/>
  </p:normalViewPr>
  <p:slideViewPr>
    <p:cSldViewPr snapToGrid="0">
      <p:cViewPr varScale="1">
        <p:scale>
          <a:sx n="80" d="100"/>
          <a:sy n="80" d="100"/>
        </p:scale>
        <p:origin x="1474" y="67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27.1.2026.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27.1.2026.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omemadecooking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onlineculinaryschool.net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cooking.planine.hr/" TargetMode="Externa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r-HR" sz="4000" noProof="0" dirty="0" err="1"/>
              <a:t>Cooking</a:t>
            </a:r>
            <a:r>
              <a:rPr lang="hr-HR" sz="4000" noProof="0" dirty="0"/>
              <a:t> </a:t>
            </a:r>
            <a:r>
              <a:rPr lang="hr-HR" sz="4000" noProof="0" dirty="0" err="1"/>
              <a:t>flamingoz</a:t>
            </a:r>
            <a:endParaRPr lang="hr-HR" sz="4000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328" y="5227023"/>
            <a:ext cx="7772400" cy="590321"/>
          </a:xfrm>
        </p:spPr>
        <p:txBody>
          <a:bodyPr>
            <a:normAutofit lnSpcReduction="10000"/>
          </a:bodyPr>
          <a:lstStyle/>
          <a:p>
            <a:r>
              <a:rPr lang="hr-HR" sz="1400" noProof="0" dirty="0"/>
              <a:t>Tim:  TG </a:t>
            </a:r>
            <a:r>
              <a:rPr lang="hr-HR" sz="1400" dirty="0"/>
              <a:t>06</a:t>
            </a:r>
            <a:r>
              <a:rPr lang="hr-HR" sz="1400" noProof="0" dirty="0"/>
              <a:t>.</a:t>
            </a:r>
            <a:r>
              <a:rPr lang="hr-HR" sz="1400" dirty="0"/>
              <a:t>4 </a:t>
            </a:r>
            <a:r>
              <a:rPr lang="hr-HR" sz="1400" dirty="0" err="1"/>
              <a:t>Cooking</a:t>
            </a:r>
            <a:r>
              <a:rPr lang="hr-HR" sz="1400" dirty="0"/>
              <a:t> </a:t>
            </a:r>
            <a:r>
              <a:rPr lang="hr-HR" sz="1400" dirty="0" err="1"/>
              <a:t>Flamingoz</a:t>
            </a:r>
            <a:endParaRPr lang="hr-HR" sz="1400" noProof="0" dirty="0"/>
          </a:p>
          <a:p>
            <a:r>
              <a:rPr lang="hr-HR" noProof="0" dirty="0"/>
              <a:t>Ak. god. 2025./2026.</a:t>
            </a:r>
          </a:p>
        </p:txBody>
      </p:sp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Opis zadatka</a:t>
            </a:r>
          </a:p>
          <a:p>
            <a:r>
              <a:rPr lang="hr-HR" noProof="0" dirty="0"/>
              <a:t>Pregled zahtjeva</a:t>
            </a:r>
          </a:p>
          <a:p>
            <a:r>
              <a:rPr lang="hr-HR" noProof="0" dirty="0"/>
              <a:t>Korišteni alati i tehnologije</a:t>
            </a:r>
          </a:p>
          <a:p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307531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Članovi tima</a:t>
            </a:r>
          </a:p>
          <a:p>
            <a:r>
              <a:rPr lang="hr-HR" noProof="0" dirty="0"/>
              <a:t>Cilj projekta</a:t>
            </a:r>
          </a:p>
          <a:p>
            <a:r>
              <a:rPr lang="hr-HR" noProof="0" dirty="0"/>
              <a:t>Analiza i oblikovanje sustava	</a:t>
            </a:r>
          </a:p>
          <a:p>
            <a:pPr lvl="1"/>
            <a:r>
              <a:rPr lang="hr-HR" noProof="0" dirty="0"/>
              <a:t>Zahtjevi</a:t>
            </a:r>
          </a:p>
          <a:p>
            <a:pPr lvl="1"/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Članovi grupe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Sebastijan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Kopsejak</a:t>
            </a: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 - Team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Lead</a:t>
            </a: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,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devops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Tin Jovanović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Backend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Filip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Polenus</a:t>
            </a: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Backend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Antonio Gospodnetić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Database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Vedran Delić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Frontend</a:t>
            </a: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, Design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Leona Marijanović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Frontend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Karlo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Klauški</a:t>
            </a:r>
            <a:r>
              <a:rPr lang="hr-HR" b="0" i="0" dirty="0">
                <a:solidFill>
                  <a:srgbClr val="9198A1"/>
                </a:solidFill>
                <a:effectLst/>
                <a:latin typeface="-apple-system"/>
              </a:rPr>
              <a:t> - </a:t>
            </a:r>
            <a:r>
              <a:rPr lang="hr-HR" b="0" i="0" dirty="0" err="1">
                <a:solidFill>
                  <a:srgbClr val="9198A1"/>
                </a:solidFill>
                <a:effectLst/>
                <a:latin typeface="-apple-system"/>
              </a:rPr>
              <a:t>Frotend</a:t>
            </a:r>
            <a:endParaRPr lang="hr-HR" b="0" i="0" dirty="0">
              <a:solidFill>
                <a:srgbClr val="9198A1"/>
              </a:solidFill>
              <a:effectLst/>
              <a:latin typeface="-apple-system"/>
            </a:endParaRPr>
          </a:p>
          <a:p>
            <a:pPr marL="0" indent="0">
              <a:buNone/>
            </a:pP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/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>
            <a:normAutofit lnSpcReduction="10000"/>
          </a:bodyPr>
          <a:lstStyle/>
          <a:p>
            <a:pPr lvl="0"/>
            <a:r>
              <a:rPr lang="hr-HR" b="0" i="0" dirty="0">
                <a:effectLst/>
                <a:latin typeface="-apple-system"/>
              </a:rPr>
              <a:t>Projektna aplikacija za online tečajeve kuhanja kroz video-lekcije na zahtjev i live radionice</a:t>
            </a:r>
          </a:p>
          <a:p>
            <a:pPr lvl="0"/>
            <a:r>
              <a:rPr lang="hr-HR" altLang="sr-Latn-RS" b="1" dirty="0"/>
              <a:t>Cilj: </a:t>
            </a:r>
            <a:r>
              <a:rPr lang="hr-HR" altLang="sr-Latn-RS" sz="2000" dirty="0">
                <a:latin typeface="-apple-system"/>
              </a:rPr>
              <a:t>I</a:t>
            </a:r>
            <a:r>
              <a:rPr lang="hr-HR" sz="2000" b="0" i="0" dirty="0">
                <a:effectLst/>
                <a:latin typeface="-apple-system"/>
              </a:rPr>
              <a:t>zraditi web aplikaciju koja nudi mogućnost korisnicima da polažu tečajeve kuhanja i dobiju certifikat o položenom tečaju. Tečajevi su izrađeni od modula koji su podijeljeni na lekcije. Svaka lekcija sadržava pisane korake, video lekciju, popis sastojka i zadatak pri kraju koji korisnik mora riješiti kako bi završio lekciju. Zadatak se sastoji od kviza ili se nudi korisniku da prilozi sliku/video gotovog jela kako bi se utvrdilo da je korisnik završio lekciju. Pri završetku lekcije korisnik ostavlja recenziju tečaja i instruktora. Instruktori su korisnici koji su priložili dokumentaciju ili certifikati koji dokazuje da su sposobno za biti instruktori na ovoj platformi. Svaki instruktor je ručno odobren od strane moderatora ili administratora.</a:t>
            </a:r>
          </a:p>
          <a:p>
            <a:pPr lvl="0"/>
            <a:r>
              <a:rPr lang="hr-HR" b="1" dirty="0"/>
              <a:t>Slične platforme: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hr-HR" sz="1800" b="0" i="0" u="sng" dirty="0">
                <a:solidFill>
                  <a:srgbClr val="4493F8"/>
                </a:solidFill>
                <a:effectLst/>
                <a:latin typeface="-apple-system"/>
                <a:hlinkClick r:id="rId3"/>
              </a:rPr>
              <a:t>https://www.homemadecooking.com/</a:t>
            </a:r>
            <a:endParaRPr lang="hr-HR" sz="1800" b="0" i="0" dirty="0">
              <a:solidFill>
                <a:srgbClr val="F0F6FC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hr-HR" sz="1800" b="0" i="0" u="sng" dirty="0">
                <a:solidFill>
                  <a:srgbClr val="4493F8"/>
                </a:solidFill>
                <a:effectLst/>
                <a:latin typeface="-apple-system"/>
                <a:hlinkClick r:id="rId4"/>
              </a:rPr>
              <a:t>https://onlineculinaryschool.net/</a:t>
            </a:r>
            <a:endParaRPr lang="hr-HR" sz="1800" b="0" i="0" dirty="0">
              <a:solidFill>
                <a:srgbClr val="F0F6FC"/>
              </a:solidFill>
              <a:effectLst/>
              <a:latin typeface="-apple-system"/>
            </a:endParaRPr>
          </a:p>
          <a:p>
            <a:pPr lvl="0"/>
            <a:endParaRPr lang="hr-HR" alt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Pregled zahtjeva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5776" y="991506"/>
            <a:ext cx="3562409" cy="313419"/>
          </a:xfrm>
        </p:spPr>
        <p:txBody>
          <a:bodyPr>
            <a:normAutofit/>
          </a:bodyPr>
          <a:lstStyle/>
          <a:p>
            <a:r>
              <a:rPr lang="hr-HR" sz="1400" b="1" dirty="0"/>
              <a:t>Zahtjevi za održavanje:</a:t>
            </a:r>
            <a:endParaRPr lang="hr-HR" sz="1400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6</a:t>
            </a:fld>
            <a:endParaRPr lang="hr-HR" dirty="0"/>
          </a:p>
        </p:txBody>
      </p:sp>
      <p:graphicFrame>
        <p:nvGraphicFramePr>
          <p:cNvPr id="5" name="Tablica 5">
            <a:extLst>
              <a:ext uri="{FF2B5EF4-FFF2-40B4-BE49-F238E27FC236}">
                <a16:creationId xmlns:a16="http://schemas.microsoft.com/office/drawing/2014/main" id="{1437C0DA-EBE7-41B2-838A-DFACC2334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451552"/>
              </p:ext>
            </p:extLst>
          </p:nvPr>
        </p:nvGraphicFramePr>
        <p:xfrm>
          <a:off x="119683" y="968670"/>
          <a:ext cx="4023692" cy="4949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868">
                  <a:extLst>
                    <a:ext uri="{9D8B030D-6E8A-4147-A177-3AD203B41FA5}">
                      <a16:colId xmlns:a16="http://schemas.microsoft.com/office/drawing/2014/main" val="1145287896"/>
                    </a:ext>
                  </a:extLst>
                </a:gridCol>
                <a:gridCol w="2923824">
                  <a:extLst>
                    <a:ext uri="{9D8B030D-6E8A-4147-A177-3AD203B41FA5}">
                      <a16:colId xmlns:a16="http://schemas.microsoft.com/office/drawing/2014/main" val="4139089445"/>
                    </a:ext>
                  </a:extLst>
                </a:gridCol>
              </a:tblGrid>
              <a:tr h="285136">
                <a:tc>
                  <a:txBody>
                    <a:bodyPr/>
                    <a:lstStyle/>
                    <a:p>
                      <a:r>
                        <a:rPr lang="hr-HR" dirty="0"/>
                        <a:t>ID zahtjeva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Opis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06075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F-001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Sustav omogućuje korisnicima kreiranje računa pomoću e-mail adrese. 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852325"/>
                  </a:ext>
                </a:extLst>
              </a:tr>
              <a:tr h="273140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F-002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Pregled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Tecaja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 njegovih modula/lekcija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773363"/>
                  </a:ext>
                </a:extLst>
              </a:tr>
              <a:tr h="316381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F-003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Upis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Tecaja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9111452"/>
                  </a:ext>
                </a:extLst>
              </a:tr>
              <a:tr h="283386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F-004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Pregled informaciju o instruktoru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7153365"/>
                  </a:ext>
                </a:extLst>
              </a:tr>
              <a:tr h="306964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F-005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Pracenje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napredka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tecajeva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27508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F-006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Postavljanje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preferenca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korisnika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305970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F-007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>
                          <a:effectLst/>
                        </a:rPr>
                        <a:t>Notifikacije </a:t>
                      </a:r>
                      <a:r>
                        <a:rPr lang="hr-HR" dirty="0" err="1">
                          <a:effectLst/>
                        </a:rPr>
                        <a:t>korisinika</a:t>
                      </a:r>
                      <a:r>
                        <a:rPr lang="hr-HR" dirty="0">
                          <a:effectLst/>
                        </a:rPr>
                        <a:t> o rokovima/novim lekcijama/radionicama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759633854"/>
                  </a:ext>
                </a:extLst>
              </a:tr>
              <a:tr h="26033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F-008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>
                          <a:effectLst/>
                        </a:rPr>
                        <a:t>Recenzija </a:t>
                      </a:r>
                      <a:r>
                        <a:rPr lang="hr-HR" dirty="0" err="1">
                          <a:effectLst/>
                        </a:rPr>
                        <a:t>tecaja</a:t>
                      </a:r>
                      <a:r>
                        <a:rPr lang="hr-HR" dirty="0">
                          <a:effectLst/>
                        </a:rPr>
                        <a:t> pri </a:t>
                      </a:r>
                      <a:r>
                        <a:rPr lang="hr-HR" dirty="0" err="1">
                          <a:effectLst/>
                        </a:rPr>
                        <a:t>zavrsetku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200024765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F-009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Dobivanje statusa instruktora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818517411"/>
                  </a:ext>
                </a:extLst>
              </a:tr>
              <a:tr h="275304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F-010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Stvaranje novog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tecaja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3832354656"/>
                  </a:ext>
                </a:extLst>
              </a:tr>
              <a:tr h="33429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F-011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Stvaranje radionice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4045337509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F-012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Korisnik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moze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prijaviti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nemprimjereni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sadrzaj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u komentarima ili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sadrzaju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lekcije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2785361482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F-013</a:t>
                      </a:r>
                      <a:endParaRPr lang="hr-H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Administratorska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ploca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621942167"/>
                  </a:ext>
                </a:extLst>
              </a:tr>
              <a:tr h="369713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F-014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Logs</a:t>
                      </a:r>
                      <a:endParaRPr lang="hr-HR" dirty="0">
                        <a:effectLst/>
                      </a:endParaRP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408888721"/>
                  </a:ext>
                </a:extLst>
              </a:tr>
            </a:tbl>
          </a:graphicData>
        </a:graphic>
      </p:graphicFrame>
      <p:graphicFrame>
        <p:nvGraphicFramePr>
          <p:cNvPr id="7" name="Tablica 7">
            <a:extLst>
              <a:ext uri="{FF2B5EF4-FFF2-40B4-BE49-F238E27FC236}">
                <a16:creationId xmlns:a16="http://schemas.microsoft.com/office/drawing/2014/main" id="{47F5749D-1926-486A-BA93-319EFDB5B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00231"/>
              </p:ext>
            </p:extLst>
          </p:nvPr>
        </p:nvGraphicFramePr>
        <p:xfrm>
          <a:off x="4295776" y="1304925"/>
          <a:ext cx="4343400" cy="1963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4267">
                  <a:extLst>
                    <a:ext uri="{9D8B030D-6E8A-4147-A177-3AD203B41FA5}">
                      <a16:colId xmlns:a16="http://schemas.microsoft.com/office/drawing/2014/main" val="3309300174"/>
                    </a:ext>
                  </a:extLst>
                </a:gridCol>
                <a:gridCol w="3499133">
                  <a:extLst>
                    <a:ext uri="{9D8B030D-6E8A-4147-A177-3AD203B41FA5}">
                      <a16:colId xmlns:a16="http://schemas.microsoft.com/office/drawing/2014/main" val="3667673593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marL="0" marR="0" lvl="0" indent="0" algn="l" defTabSz="257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r-HR" dirty="0"/>
                        <a:t>ID zahtjeva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Opis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963289"/>
                  </a:ext>
                </a:extLst>
              </a:tr>
              <a:tr h="258396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ZO-1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Sustav treba biti oblikovan tako da je modularan i omogućuje jednostavno održavanje (2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monolitha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444174"/>
                  </a:ext>
                </a:extLst>
              </a:tr>
              <a:tr h="258396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ZO-2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>
                          <a:effectLst/>
                        </a:rPr>
                        <a:t>Sustav treba biti dokumentiran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712110760"/>
                  </a:ext>
                </a:extLst>
              </a:tr>
              <a:tr h="258396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ZO-3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Sustav treba biti lako pokrenut kako bi se bez problema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izvrsile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promjene (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automizacija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sa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Makefile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4665166"/>
                  </a:ext>
                </a:extLst>
              </a:tr>
              <a:tr h="258396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ZO-4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Kod aplikacije je napisan modularan i segregiran kako bi se lako nadogradio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400295"/>
                  </a:ext>
                </a:extLst>
              </a:tr>
              <a:tr h="258396">
                <a:tc>
                  <a:txBody>
                    <a:bodyPr/>
                    <a:lstStyle/>
                    <a:p>
                      <a:pPr algn="ctr"/>
                      <a:r>
                        <a:rPr lang="hr-HR" dirty="0"/>
                        <a:t>ZO-5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 err="1">
                          <a:effectLst/>
                        </a:rPr>
                        <a:t>Kriticne</a:t>
                      </a:r>
                      <a:r>
                        <a:rPr lang="hr-HR" dirty="0">
                          <a:effectLst/>
                        </a:rPr>
                        <a:t> funkcije moraju </a:t>
                      </a:r>
                      <a:r>
                        <a:rPr lang="hr-HR" dirty="0" err="1">
                          <a:effectLst/>
                        </a:rPr>
                        <a:t>zadrzavati</a:t>
                      </a:r>
                      <a:r>
                        <a:rPr lang="hr-HR" dirty="0">
                          <a:effectLst/>
                        </a:rPr>
                        <a:t> </a:t>
                      </a:r>
                      <a:r>
                        <a:rPr lang="hr-HR" dirty="0" err="1">
                          <a:effectLst/>
                        </a:rPr>
                        <a:t>unit</a:t>
                      </a:r>
                      <a:r>
                        <a:rPr lang="hr-HR" dirty="0">
                          <a:effectLst/>
                        </a:rPr>
                        <a:t> testove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136370256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4247B1-98B3-4CA3-9998-AF2AAE27F4BB}"/>
              </a:ext>
            </a:extLst>
          </p:cNvPr>
          <p:cNvSpPr txBox="1">
            <a:spLocks/>
          </p:cNvSpPr>
          <p:nvPr/>
        </p:nvSpPr>
        <p:spPr>
          <a:xfrm>
            <a:off x="4295774" y="5646826"/>
            <a:ext cx="3562409" cy="313419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1400" b="1" dirty="0"/>
              <a:t>Zahtjevi za skalabilnost:</a:t>
            </a:r>
            <a:endParaRPr lang="hr-HR" sz="1400" dirty="0"/>
          </a:p>
        </p:txBody>
      </p:sp>
      <p:graphicFrame>
        <p:nvGraphicFramePr>
          <p:cNvPr id="9" name="Tablica 9">
            <a:extLst>
              <a:ext uri="{FF2B5EF4-FFF2-40B4-BE49-F238E27FC236}">
                <a16:creationId xmlns:a16="http://schemas.microsoft.com/office/drawing/2014/main" id="{DD46F70C-BA39-4211-9E0A-7E8E547720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945918"/>
              </p:ext>
            </p:extLst>
          </p:nvPr>
        </p:nvGraphicFramePr>
        <p:xfrm>
          <a:off x="4295774" y="5960245"/>
          <a:ext cx="4067176" cy="742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0576">
                  <a:extLst>
                    <a:ext uri="{9D8B030D-6E8A-4147-A177-3AD203B41FA5}">
                      <a16:colId xmlns:a16="http://schemas.microsoft.com/office/drawing/2014/main" val="943058545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1797099246"/>
                    </a:ext>
                  </a:extLst>
                </a:gridCol>
              </a:tblGrid>
              <a:tr h="250543">
                <a:tc>
                  <a:txBody>
                    <a:bodyPr/>
                    <a:lstStyle/>
                    <a:p>
                      <a:r>
                        <a:rPr lang="hr-HR" dirty="0"/>
                        <a:t>ID zahtjev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Opis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7990306"/>
                  </a:ext>
                </a:extLst>
              </a:tr>
              <a:tr h="203745">
                <a:tc>
                  <a:txBody>
                    <a:bodyPr/>
                    <a:lstStyle/>
                    <a:p>
                      <a:r>
                        <a:rPr lang="hr-HR" dirty="0"/>
                        <a:t>ZS-0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Sustav mora prvenstveno raditi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3752729"/>
                  </a:ext>
                </a:extLst>
              </a:tr>
              <a:tr h="203745">
                <a:tc>
                  <a:txBody>
                    <a:bodyPr/>
                    <a:lstStyle/>
                    <a:p>
                      <a:r>
                        <a:rPr lang="hr-HR" dirty="0"/>
                        <a:t>ZS-1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l-PL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Sustav mora imati dovoljno prostora za sadrzaj lekcija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87933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BA2E9FB-2CCA-45D6-B791-0FEADFCA2E42}"/>
              </a:ext>
            </a:extLst>
          </p:cNvPr>
          <p:cNvSpPr txBox="1">
            <a:spLocks/>
          </p:cNvSpPr>
          <p:nvPr/>
        </p:nvSpPr>
        <p:spPr>
          <a:xfrm>
            <a:off x="4295775" y="3319694"/>
            <a:ext cx="3562409" cy="313419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1400" b="1" dirty="0"/>
              <a:t>Zahtjevi za sigurnosti:</a:t>
            </a:r>
            <a:endParaRPr lang="hr-HR" sz="1400" dirty="0"/>
          </a:p>
        </p:txBody>
      </p:sp>
      <p:graphicFrame>
        <p:nvGraphicFramePr>
          <p:cNvPr id="11" name="Tablica 11">
            <a:extLst>
              <a:ext uri="{FF2B5EF4-FFF2-40B4-BE49-F238E27FC236}">
                <a16:creationId xmlns:a16="http://schemas.microsoft.com/office/drawing/2014/main" id="{6F13F16B-16E9-4354-9BFD-5D72463AA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122005"/>
              </p:ext>
            </p:extLst>
          </p:nvPr>
        </p:nvGraphicFramePr>
        <p:xfrm>
          <a:off x="4295777" y="3604538"/>
          <a:ext cx="4551556" cy="20008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717">
                  <a:extLst>
                    <a:ext uri="{9D8B030D-6E8A-4147-A177-3AD203B41FA5}">
                      <a16:colId xmlns:a16="http://schemas.microsoft.com/office/drawing/2014/main" val="2442370683"/>
                    </a:ext>
                  </a:extLst>
                </a:gridCol>
                <a:gridCol w="3611839">
                  <a:extLst>
                    <a:ext uri="{9D8B030D-6E8A-4147-A177-3AD203B41FA5}">
                      <a16:colId xmlns:a16="http://schemas.microsoft.com/office/drawing/2014/main" val="2694094358"/>
                    </a:ext>
                  </a:extLst>
                </a:gridCol>
              </a:tblGrid>
              <a:tr h="226897">
                <a:tc>
                  <a:txBody>
                    <a:bodyPr/>
                    <a:lstStyle/>
                    <a:p>
                      <a:r>
                        <a:rPr lang="hr-HR" dirty="0"/>
                        <a:t>ID zahtjeva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/>
                        <a:t>Opis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824015"/>
                  </a:ext>
                </a:extLst>
              </a:tr>
              <a:tr h="226897">
                <a:tc>
                  <a:txBody>
                    <a:bodyPr/>
                    <a:lstStyle/>
                    <a:p>
                      <a:r>
                        <a:rPr lang="hr-HR" dirty="0"/>
                        <a:t>ZSG-1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Svaki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sadrzaj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koji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korisinik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objavljuje mora biti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sanitizirani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prije ulaska u bazu (WAF ili na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backendu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kako bi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sprijecilo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XSS, SQL ili HTML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Injection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2872487"/>
                  </a:ext>
                </a:extLst>
              </a:tr>
              <a:tr h="226897">
                <a:tc>
                  <a:txBody>
                    <a:bodyPr/>
                    <a:lstStyle/>
                    <a:p>
                      <a:r>
                        <a:rPr lang="hr-HR" dirty="0"/>
                        <a:t>ZSG-2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Koristiti sigurne HTTP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header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koji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onemogucuju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koristenje</a:t>
                      </a:r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stranice u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iframe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333093"/>
                  </a:ext>
                </a:extLst>
              </a:tr>
              <a:tr h="226897">
                <a:tc>
                  <a:txBody>
                    <a:bodyPr/>
                    <a:lstStyle/>
                    <a:p>
                      <a:r>
                        <a:rPr lang="hr-HR" dirty="0"/>
                        <a:t>ZSG-3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dirty="0">
                          <a:effectLst/>
                        </a:rPr>
                        <a:t>Koristiti sigurne prakse za JWS kako </a:t>
                      </a:r>
                      <a:r>
                        <a:rPr lang="hr-HR" dirty="0" err="1">
                          <a:effectLst/>
                        </a:rPr>
                        <a:t>napadac</a:t>
                      </a:r>
                      <a:r>
                        <a:rPr lang="hr-HR" dirty="0">
                          <a:effectLst/>
                        </a:rPr>
                        <a:t> </a:t>
                      </a:r>
                      <a:r>
                        <a:rPr lang="hr-HR" dirty="0" err="1">
                          <a:effectLst/>
                        </a:rPr>
                        <a:t>nebi</a:t>
                      </a:r>
                      <a:r>
                        <a:rPr lang="hr-HR" dirty="0">
                          <a:effectLst/>
                        </a:rPr>
                        <a:t> </a:t>
                      </a:r>
                      <a:r>
                        <a:rPr lang="hr-HR" dirty="0" err="1">
                          <a:effectLst/>
                        </a:rPr>
                        <a:t>lazirao</a:t>
                      </a:r>
                      <a:r>
                        <a:rPr lang="hr-HR" dirty="0">
                          <a:effectLst/>
                        </a:rPr>
                        <a:t> JWT token</a:t>
                      </a:r>
                    </a:p>
                  </a:txBody>
                  <a:tcPr marL="99060" marR="99060" anchor="ctr"/>
                </a:tc>
                <a:extLst>
                  <a:ext uri="{0D108BD9-81ED-4DB2-BD59-A6C34878D82A}">
                    <a16:rowId xmlns:a16="http://schemas.microsoft.com/office/drawing/2014/main" val="2258502484"/>
                  </a:ext>
                </a:extLst>
              </a:tr>
              <a:tr h="226897">
                <a:tc>
                  <a:txBody>
                    <a:bodyPr/>
                    <a:lstStyle/>
                    <a:p>
                      <a:r>
                        <a:rPr lang="hr-HR" dirty="0"/>
                        <a:t>ZSG-4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r-HR" sz="1013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Pravilno postaviti Access Controls pri svakoj ulozi, pristup najmanje ovlasti i </a:t>
                      </a:r>
                      <a:r>
                        <a:rPr lang="hr-HR" sz="1013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privelegije</a:t>
                      </a:r>
                      <a:endParaRPr lang="hr-H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1176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1375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UML dijagram obrazaca uporabe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E1D33-6016-014F-7976-CC3BF83E4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5032" y="864262"/>
            <a:ext cx="4341943" cy="622630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r>
              <a:rPr lang="hr-HR" b="1" noProof="0" dirty="0"/>
              <a:t>Višerazinski dijagram cijelog sustava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7</a:t>
            </a:fld>
            <a:endParaRPr lang="hr-HR" dirty="0"/>
          </a:p>
        </p:txBody>
      </p:sp>
      <p:pic>
        <p:nvPicPr>
          <p:cNvPr id="6" name="Slika 5" descr="Slika na kojoj se prikazuje dijagram, crta, tekst&#10;&#10;Opis je automatski generiran">
            <a:extLst>
              <a:ext uri="{FF2B5EF4-FFF2-40B4-BE49-F238E27FC236}">
                <a16:creationId xmlns:a16="http://schemas.microsoft.com/office/drawing/2014/main" id="{0E968006-D3F8-44A7-BC22-9EC19D3B79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440" y="1295526"/>
            <a:ext cx="5401129" cy="549351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CA364CD-5E0F-418F-A8F5-CE309D6187E7}"/>
              </a:ext>
            </a:extLst>
          </p:cNvPr>
          <p:cNvSpPr txBox="1">
            <a:spLocks/>
          </p:cNvSpPr>
          <p:nvPr/>
        </p:nvSpPr>
        <p:spPr>
          <a:xfrm>
            <a:off x="1785440" y="864262"/>
            <a:ext cx="5401129" cy="62263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85000" lnSpcReduction="1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hr-HR" b="1" dirty="0"/>
              <a:t>Dijagram obrasca uporabe anonimnog korisnika</a:t>
            </a:r>
          </a:p>
        </p:txBody>
      </p:sp>
      <p:pic>
        <p:nvPicPr>
          <p:cNvPr id="9" name="Slika 8" descr="Slika na kojoj se prikazuje tekst, dijagram, crta, Font&#10;&#10;Opis je automatski generiran">
            <a:extLst>
              <a:ext uri="{FF2B5EF4-FFF2-40B4-BE49-F238E27FC236}">
                <a16:creationId xmlns:a16="http://schemas.microsoft.com/office/drawing/2014/main" id="{16DA76AD-C2CF-4ADF-AE7C-3404F181B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0064" y="1328164"/>
            <a:ext cx="4831880" cy="5562474"/>
          </a:xfrm>
          <a:prstGeom prst="rect">
            <a:avLst/>
          </a:prstGeom>
        </p:spPr>
      </p:pic>
      <p:pic>
        <p:nvPicPr>
          <p:cNvPr id="11" name="Slika 10" descr="Slika na kojoj se prikazuje tekst, crtež, dijagram, skeč&#10;&#10;Opis je automatski generiran">
            <a:extLst>
              <a:ext uri="{FF2B5EF4-FFF2-40B4-BE49-F238E27FC236}">
                <a16:creationId xmlns:a16="http://schemas.microsoft.com/office/drawing/2014/main" id="{74E5F971-9CED-480A-9E59-602DF0839A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341" y="1295526"/>
            <a:ext cx="3239648" cy="578954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5E15466-8511-4075-9D18-2DC9C14951C0}"/>
              </a:ext>
            </a:extLst>
          </p:cNvPr>
          <p:cNvSpPr txBox="1">
            <a:spLocks/>
          </p:cNvSpPr>
          <p:nvPr/>
        </p:nvSpPr>
        <p:spPr>
          <a:xfrm>
            <a:off x="1334458" y="829459"/>
            <a:ext cx="6047548" cy="65903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hr-HR" b="1" dirty="0"/>
              <a:t>Dijagram obrasca uporabe polaznika</a:t>
            </a:r>
          </a:p>
        </p:txBody>
      </p:sp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7" grpId="1"/>
      <p:bldP spid="13" grpId="0"/>
      <p:bldP spid="13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Arhitektura sustava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Dijagram arhitekture – komponente:</a:t>
            </a:r>
            <a:endParaRPr lang="hr-HR" i="1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8</a:t>
            </a:fld>
            <a:endParaRPr lang="hr-HR" dirty="0"/>
          </a:p>
        </p:txBody>
      </p:sp>
      <p:pic>
        <p:nvPicPr>
          <p:cNvPr id="6" name="Slika 5" descr="Slika na kojoj se prikazuje tekst, dijagram, Plan, karta&#10;&#10;Opis je automatski generiran">
            <a:extLst>
              <a:ext uri="{FF2B5EF4-FFF2-40B4-BE49-F238E27FC236}">
                <a16:creationId xmlns:a16="http://schemas.microsoft.com/office/drawing/2014/main" id="{75AACBCC-ADE6-4C2A-892A-1CD984E58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03" y="1465811"/>
            <a:ext cx="8750277" cy="483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354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2000"/>
            <a:ext cx="6357376" cy="513900"/>
          </a:xfrm>
        </p:spPr>
        <p:txBody>
          <a:bodyPr>
            <a:normAutofit lnSpcReduction="10000"/>
          </a:bodyPr>
          <a:lstStyle/>
          <a:p>
            <a:r>
              <a:rPr lang="hr-HR" noProof="0" dirty="0"/>
              <a:t>Ispitivanje komponenti: </a:t>
            </a:r>
            <a:r>
              <a:rPr lang="hr-HR" noProof="0" dirty="0" err="1"/>
              <a:t>JUnit</a:t>
            </a:r>
            <a:r>
              <a:rPr lang="hr-HR" noProof="0" dirty="0"/>
              <a:t> </a:t>
            </a:r>
            <a:r>
              <a:rPr lang="hr-HR" noProof="0" dirty="0" err="1"/>
              <a:t>tests</a:t>
            </a:r>
            <a:endParaRPr lang="hr-HR" noProof="0" dirty="0"/>
          </a:p>
          <a:p>
            <a:pPr marL="0" indent="0">
              <a:buNone/>
            </a:pP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9</a:t>
            </a:fld>
            <a:endParaRPr lang="hr-HR" dirty="0"/>
          </a:p>
        </p:txBody>
      </p:sp>
      <p:pic>
        <p:nvPicPr>
          <p:cNvPr id="7" name="Slika 6" descr="Slika na kojoj se prikazuje tekst, snimka zaslona, softver, Multimedijski softver&#10;&#10;Opis je automatski generiran">
            <a:extLst>
              <a:ext uri="{FF2B5EF4-FFF2-40B4-BE49-F238E27FC236}">
                <a16:creationId xmlns:a16="http://schemas.microsoft.com/office/drawing/2014/main" id="{EF84CBA5-0537-4C54-ADC8-070BCA9EF5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37"/>
          <a:stretch/>
        </p:blipFill>
        <p:spPr>
          <a:xfrm>
            <a:off x="148066" y="1495425"/>
            <a:ext cx="8847867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96A467-BA77-40DA-81CC-257C9C405172}"/>
              </a:ext>
            </a:extLst>
          </p:cNvPr>
          <p:cNvSpPr txBox="1">
            <a:spLocks/>
          </p:cNvSpPr>
          <p:nvPr/>
        </p:nvSpPr>
        <p:spPr>
          <a:xfrm>
            <a:off x="119624" y="968250"/>
            <a:ext cx="6357376" cy="5139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lnSpcReduction="1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dirty="0"/>
              <a:t>Ispitivanje sustava: </a:t>
            </a:r>
            <a:r>
              <a:rPr lang="hr-HR" dirty="0" err="1"/>
              <a:t>Cypress</a:t>
            </a:r>
            <a:endParaRPr lang="hr-HR" dirty="0"/>
          </a:p>
          <a:p>
            <a:pPr marL="0" indent="0">
              <a:buFont typeface="Wingdings 2" panose="05020102010507070707" pitchFamily="18" charset="2"/>
              <a:buNone/>
            </a:pPr>
            <a:endParaRPr lang="hr-HR" dirty="0"/>
          </a:p>
        </p:txBody>
      </p:sp>
      <p:sp>
        <p:nvSpPr>
          <p:cNvPr id="8" name="AutoShape 2" descr="image">
            <a:extLst>
              <a:ext uri="{FF2B5EF4-FFF2-40B4-BE49-F238E27FC236}">
                <a16:creationId xmlns:a16="http://schemas.microsoft.com/office/drawing/2014/main" id="{3DA9AD42-B2A8-417C-BD45-054B2F4637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3276599"/>
            <a:ext cx="3343275" cy="334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r-HR"/>
          </a:p>
        </p:txBody>
      </p:sp>
      <p:pic>
        <p:nvPicPr>
          <p:cNvPr id="10" name="Slika 9" descr="Slika na kojoj se prikazuje tekst, snimka zaslona, Multimedijski softver, softver&#10;&#10;Opis je automatski generiran">
            <a:extLst>
              <a:ext uri="{FF2B5EF4-FFF2-40B4-BE49-F238E27FC236}">
                <a16:creationId xmlns:a16="http://schemas.microsoft.com/office/drawing/2014/main" id="{16E6B1B6-409C-41B7-B573-9BD7CFE67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6767"/>
            <a:ext cx="9144000" cy="430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431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Korišteni alati i tehnologije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Popis programskih jezika i radnih okvira:</a:t>
            </a:r>
          </a:p>
          <a:p>
            <a:pPr algn="l">
              <a:buFont typeface="+mj-lt"/>
              <a:buAutoNum type="arabicPeriod"/>
            </a:pPr>
            <a:r>
              <a:rPr lang="hr-HR" sz="1800" b="1" i="0" dirty="0">
                <a:effectLst/>
                <a:latin typeface="-apple-system"/>
              </a:rPr>
              <a:t>Programski jezici:</a:t>
            </a:r>
            <a:r>
              <a:rPr lang="hr-HR" sz="1800" dirty="0">
                <a:latin typeface="-apple-system"/>
              </a:rPr>
              <a:t> </a:t>
            </a:r>
            <a:r>
              <a:rPr lang="hr-HR" sz="1800" b="0" i="0" dirty="0">
                <a:effectLst/>
                <a:latin typeface="-apple-system"/>
              </a:rPr>
              <a:t>Java (21), JavaScript (ES2022+), </a:t>
            </a:r>
            <a:r>
              <a:rPr lang="hr-HR" sz="1800" b="0" i="0" dirty="0" err="1">
                <a:effectLst/>
                <a:latin typeface="-apple-system"/>
              </a:rPr>
              <a:t>TypeScript</a:t>
            </a:r>
            <a:r>
              <a:rPr lang="hr-HR" sz="1800" b="0" i="0" dirty="0">
                <a:effectLst/>
                <a:latin typeface="-apple-system"/>
              </a:rPr>
              <a:t> (5.9.2), SQL </a:t>
            </a:r>
          </a:p>
          <a:p>
            <a:pPr algn="l">
              <a:buFont typeface="+mj-lt"/>
              <a:buAutoNum type="arabicPeriod" startAt="2"/>
            </a:pPr>
            <a:r>
              <a:rPr lang="hr-HR" sz="1800" b="1" i="0" dirty="0">
                <a:effectLst/>
                <a:latin typeface="-apple-system"/>
              </a:rPr>
              <a:t>Radni okviri i biblioteke: </a:t>
            </a:r>
            <a:r>
              <a:rPr lang="hr-HR" sz="1800" b="0" i="0" dirty="0" err="1">
                <a:effectLst/>
                <a:latin typeface="-apple-system"/>
              </a:rPr>
              <a:t>Spring</a:t>
            </a:r>
            <a:r>
              <a:rPr lang="hr-HR" sz="1800" b="0" i="0" dirty="0">
                <a:effectLst/>
                <a:latin typeface="-apple-system"/>
              </a:rPr>
              <a:t> </a:t>
            </a:r>
            <a:r>
              <a:rPr lang="hr-HR" sz="1800" b="0" i="0" dirty="0" err="1">
                <a:effectLst/>
                <a:latin typeface="-apple-system"/>
              </a:rPr>
              <a:t>Boot</a:t>
            </a:r>
            <a:r>
              <a:rPr lang="hr-HR" sz="1800" b="0" i="0" dirty="0">
                <a:effectLst/>
                <a:latin typeface="-apple-system"/>
              </a:rPr>
              <a:t> 3.5.6, </a:t>
            </a:r>
            <a:r>
              <a:rPr lang="hr-HR" sz="1800" b="0" i="0" dirty="0" err="1">
                <a:effectLst/>
                <a:latin typeface="-apple-system"/>
              </a:rPr>
              <a:t>Spring</a:t>
            </a:r>
            <a:r>
              <a:rPr lang="hr-HR" sz="1800" b="0" i="0" dirty="0">
                <a:effectLst/>
                <a:latin typeface="-apple-system"/>
              </a:rPr>
              <a:t> Data JPA, </a:t>
            </a:r>
            <a:r>
              <a:rPr lang="hr-HR" sz="1800" b="0" i="0" dirty="0" err="1">
                <a:effectLst/>
                <a:latin typeface="-apple-system"/>
              </a:rPr>
              <a:t>Spring</a:t>
            </a:r>
            <a:r>
              <a:rPr lang="hr-HR" sz="1800" b="0" i="0" dirty="0">
                <a:effectLst/>
                <a:latin typeface="-apple-system"/>
              </a:rPr>
              <a:t> Security, JWT, </a:t>
            </a:r>
            <a:r>
              <a:rPr lang="hr-HR" sz="1800" b="0" i="0" dirty="0" err="1">
                <a:effectLst/>
                <a:latin typeface="-apple-system"/>
              </a:rPr>
              <a:t>React</a:t>
            </a:r>
            <a:r>
              <a:rPr lang="hr-HR" sz="1800" b="0" i="0" dirty="0">
                <a:effectLst/>
                <a:latin typeface="-apple-system"/>
              </a:rPr>
              <a:t>, </a:t>
            </a:r>
            <a:r>
              <a:rPr lang="hr-HR" sz="1800" b="0" i="0" dirty="0" err="1">
                <a:effectLst/>
                <a:latin typeface="-apple-system"/>
              </a:rPr>
              <a:t>React</a:t>
            </a:r>
            <a:r>
              <a:rPr lang="hr-HR" sz="1800" b="0" i="0" dirty="0">
                <a:effectLst/>
                <a:latin typeface="-apple-system"/>
              </a:rPr>
              <a:t> </a:t>
            </a:r>
            <a:r>
              <a:rPr lang="hr-HR" sz="1800" b="0" i="0" dirty="0" err="1">
                <a:effectLst/>
                <a:latin typeface="-apple-system"/>
              </a:rPr>
              <a:t>Router</a:t>
            </a:r>
            <a:r>
              <a:rPr lang="hr-HR" sz="1800" b="0" i="0" dirty="0">
                <a:effectLst/>
                <a:latin typeface="-apple-system"/>
              </a:rPr>
              <a:t>, Node.js, </a:t>
            </a:r>
            <a:r>
              <a:rPr lang="hr-HR" sz="1800" b="0" i="0" dirty="0" err="1">
                <a:effectLst/>
                <a:latin typeface="-apple-system"/>
              </a:rPr>
              <a:t>Tailwind</a:t>
            </a:r>
            <a:r>
              <a:rPr lang="hr-HR" sz="1800" b="0" i="0" dirty="0">
                <a:effectLst/>
                <a:latin typeface="-apple-system"/>
              </a:rPr>
              <a:t> CSS, Vite</a:t>
            </a:r>
          </a:p>
          <a:p>
            <a:pPr algn="l">
              <a:buFont typeface="+mj-lt"/>
              <a:buAutoNum type="arabicPeriod" startAt="2"/>
            </a:pPr>
            <a:r>
              <a:rPr lang="hr-HR" sz="1800" b="1" dirty="0">
                <a:latin typeface="-apple-system"/>
              </a:rPr>
              <a:t>Baza podataka</a:t>
            </a:r>
            <a:r>
              <a:rPr lang="hr-HR" sz="1800" dirty="0">
                <a:latin typeface="-apple-system"/>
              </a:rPr>
              <a:t>: PostgreSQL </a:t>
            </a:r>
          </a:p>
          <a:p>
            <a:pPr algn="l">
              <a:buFont typeface="+mj-lt"/>
              <a:buAutoNum type="arabicPeriod" startAt="2"/>
            </a:pPr>
            <a:r>
              <a:rPr lang="hr-HR" sz="1800" b="1" i="0" dirty="0">
                <a:effectLst/>
                <a:latin typeface="-apple-system"/>
              </a:rPr>
              <a:t>Razvojni alati</a:t>
            </a:r>
            <a:r>
              <a:rPr lang="hr-HR" sz="1800" i="0" dirty="0">
                <a:effectLst/>
                <a:latin typeface="-apple-system"/>
              </a:rPr>
              <a:t>: VS </a:t>
            </a:r>
            <a:r>
              <a:rPr lang="hr-HR" sz="1800" i="0" dirty="0" err="1">
                <a:effectLst/>
                <a:latin typeface="-apple-system"/>
              </a:rPr>
              <a:t>Code</a:t>
            </a:r>
            <a:r>
              <a:rPr lang="hr-HR" sz="1800" i="0" dirty="0">
                <a:effectLst/>
                <a:latin typeface="-apple-system"/>
              </a:rPr>
              <a:t>, </a:t>
            </a:r>
            <a:r>
              <a:rPr lang="hr-HR" sz="1800" i="0" dirty="0" err="1">
                <a:effectLst/>
                <a:latin typeface="-apple-system"/>
              </a:rPr>
              <a:t>IntelJ</a:t>
            </a:r>
            <a:r>
              <a:rPr lang="hr-HR" sz="1800" i="0" dirty="0">
                <a:effectLst/>
                <a:latin typeface="-apple-system"/>
              </a:rPr>
              <a:t> IDEA, </a:t>
            </a:r>
            <a:r>
              <a:rPr lang="hr-HR" sz="1800" i="0" dirty="0" err="1">
                <a:effectLst/>
                <a:latin typeface="-apple-system"/>
              </a:rPr>
              <a:t>Git</a:t>
            </a:r>
            <a:r>
              <a:rPr lang="hr-HR" sz="1800" i="0" dirty="0">
                <a:effectLst/>
                <a:latin typeface="-apple-system"/>
              </a:rPr>
              <a:t>, Apache </a:t>
            </a:r>
            <a:r>
              <a:rPr lang="hr-HR" sz="1800" i="0" dirty="0" err="1">
                <a:effectLst/>
                <a:latin typeface="-apple-system"/>
              </a:rPr>
              <a:t>Maven</a:t>
            </a:r>
            <a:r>
              <a:rPr lang="hr-HR" sz="1800" i="0" dirty="0">
                <a:effectLst/>
                <a:latin typeface="-apple-system"/>
              </a:rPr>
              <a:t>, </a:t>
            </a:r>
            <a:r>
              <a:rPr lang="hr-HR" sz="1800" i="0" dirty="0" err="1">
                <a:effectLst/>
                <a:latin typeface="-apple-system"/>
              </a:rPr>
              <a:t>Node</a:t>
            </a:r>
            <a:r>
              <a:rPr lang="hr-HR" sz="1800" i="0" dirty="0">
                <a:effectLst/>
                <a:latin typeface="-apple-system"/>
              </a:rPr>
              <a:t> </a:t>
            </a:r>
            <a:r>
              <a:rPr lang="hr-HR" sz="1800" i="0" dirty="0" err="1">
                <a:effectLst/>
                <a:latin typeface="-apple-system"/>
              </a:rPr>
              <a:t>Package</a:t>
            </a:r>
            <a:r>
              <a:rPr lang="hr-HR" sz="1800" i="0" dirty="0">
                <a:effectLst/>
                <a:latin typeface="-apple-system"/>
              </a:rPr>
              <a:t> Manager, </a:t>
            </a:r>
            <a:r>
              <a:rPr lang="hr-HR" sz="1800" i="0" dirty="0" err="1">
                <a:effectLst/>
                <a:latin typeface="-apple-system"/>
              </a:rPr>
              <a:t>Postman</a:t>
            </a:r>
            <a:r>
              <a:rPr lang="hr-HR" sz="1800" i="0" dirty="0">
                <a:effectLst/>
                <a:latin typeface="-apple-system"/>
              </a:rPr>
              <a:t>, </a:t>
            </a:r>
            <a:r>
              <a:rPr lang="hr-HR" sz="1800" i="0" dirty="0" err="1">
                <a:effectLst/>
                <a:latin typeface="-apple-system"/>
              </a:rPr>
              <a:t>pgamin</a:t>
            </a:r>
            <a:r>
              <a:rPr lang="hr-HR" sz="1800" i="0" dirty="0">
                <a:effectLst/>
                <a:latin typeface="-apple-system"/>
              </a:rPr>
              <a:t>, </a:t>
            </a:r>
            <a:r>
              <a:rPr lang="hr-HR" sz="1800" i="0" dirty="0" err="1">
                <a:effectLst/>
                <a:latin typeface="-apple-system"/>
              </a:rPr>
              <a:t>Dbeaver</a:t>
            </a:r>
            <a:r>
              <a:rPr lang="hr-HR" sz="1800" i="0" dirty="0">
                <a:effectLst/>
                <a:latin typeface="-apple-system"/>
              </a:rPr>
              <a:t>  </a:t>
            </a:r>
          </a:p>
          <a:p>
            <a:pPr algn="l">
              <a:buFont typeface="+mj-lt"/>
              <a:buAutoNum type="arabicPeriod" startAt="2"/>
            </a:pPr>
            <a:r>
              <a:rPr lang="hr-HR" sz="1800" b="1" dirty="0">
                <a:latin typeface="-apple-system"/>
              </a:rPr>
              <a:t>Alati za ispitivanje: </a:t>
            </a:r>
            <a:r>
              <a:rPr lang="hr-HR" sz="1800" dirty="0" err="1">
                <a:latin typeface="-apple-system"/>
              </a:rPr>
              <a:t>Junit</a:t>
            </a:r>
            <a:r>
              <a:rPr lang="hr-HR" sz="1800" dirty="0">
                <a:latin typeface="-apple-system"/>
              </a:rPr>
              <a:t> alat, </a:t>
            </a:r>
            <a:r>
              <a:rPr lang="hr-HR" sz="1800" dirty="0" err="1">
                <a:latin typeface="-apple-system"/>
              </a:rPr>
              <a:t>Cypress</a:t>
            </a:r>
            <a:r>
              <a:rPr lang="hr-HR" sz="1800" dirty="0">
                <a:latin typeface="-apple-system"/>
              </a:rPr>
              <a:t> </a:t>
            </a:r>
            <a:endParaRPr lang="hr-HR" i="0" dirty="0">
              <a:effectLst/>
              <a:latin typeface="-apple-system"/>
            </a:endParaRPr>
          </a:p>
          <a:p>
            <a:pPr marL="457200" lvl="1" indent="0">
              <a:buNone/>
            </a:pPr>
            <a:endParaRPr lang="hr-HR" noProof="0" dirty="0"/>
          </a:p>
          <a:p>
            <a:r>
              <a:rPr lang="hr-HR" noProof="0" dirty="0"/>
              <a:t>Smještaj aplikacije: </a:t>
            </a:r>
            <a:r>
              <a:rPr lang="hr-HR" sz="2000" b="0" i="0" u="sng" dirty="0">
                <a:solidFill>
                  <a:srgbClr val="4493F8"/>
                </a:solidFill>
                <a:effectLst/>
                <a:latin typeface="-apple-system"/>
                <a:hlinkClick r:id="rId2"/>
              </a:rPr>
              <a:t>https://cooking.planine.hr/</a:t>
            </a:r>
            <a:endParaRPr lang="hr-HR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Neprogramski (organizacijski) zadaci</a:t>
            </a:r>
          </a:p>
          <a:p>
            <a:pPr lvl="1"/>
            <a:r>
              <a:rPr lang="hr-HR" dirty="0"/>
              <a:t>K</a:t>
            </a:r>
            <a:r>
              <a:rPr lang="hr-HR" noProof="0" dirty="0" err="1"/>
              <a:t>orištene</a:t>
            </a:r>
            <a:r>
              <a:rPr lang="hr-HR" noProof="0" dirty="0"/>
              <a:t> platforme</a:t>
            </a:r>
            <a:r>
              <a:rPr lang="hr-HR" dirty="0"/>
              <a:t>: WhatsApp, </a:t>
            </a:r>
            <a:r>
              <a:rPr lang="hr-HR" dirty="0" err="1"/>
              <a:t>Diskord</a:t>
            </a:r>
            <a:endParaRPr lang="hr-HR" noProof="0" dirty="0"/>
          </a:p>
          <a:p>
            <a:pPr lvl="1"/>
            <a:r>
              <a:rPr lang="hr-HR" noProof="0" dirty="0" err="1"/>
              <a:t>GitHub</a:t>
            </a:r>
            <a:r>
              <a:rPr lang="hr-HR" noProof="0" dirty="0"/>
              <a:t> iskustvo</a:t>
            </a:r>
          </a:p>
          <a:p>
            <a:pPr lvl="1"/>
            <a:r>
              <a:rPr lang="hr-HR" noProof="0" dirty="0"/>
              <a:t>Alat: </a:t>
            </a:r>
            <a:r>
              <a:rPr lang="hr-HR" noProof="0" dirty="0" err="1"/>
              <a:t>Linear</a:t>
            </a:r>
            <a:endParaRPr lang="hr-HR" noProof="0" dirty="0"/>
          </a:p>
          <a:p>
            <a:endParaRPr lang="hr-HR" dirty="0"/>
          </a:p>
          <a:p>
            <a:endParaRPr lang="hr-HR" dirty="0"/>
          </a:p>
          <a:p>
            <a:endParaRPr lang="hr-HR" dirty="0"/>
          </a:p>
          <a:p>
            <a:pPr marL="0" indent="0">
              <a:buNone/>
            </a:pPr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 dirty="0"/>
          </a:p>
        </p:txBody>
      </p:sp>
      <p:pic>
        <p:nvPicPr>
          <p:cNvPr id="6" name="Slika 5" descr="Slika na kojoj se prikazuje tekst, snimka zaslona, softver, Multimedijski softver&#10;&#10;Opis je automatski generiran">
            <a:extLst>
              <a:ext uri="{FF2B5EF4-FFF2-40B4-BE49-F238E27FC236}">
                <a16:creationId xmlns:a16="http://schemas.microsoft.com/office/drawing/2014/main" id="{B259F78E-DE92-4024-9B60-3CC1ED852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20" y="2708396"/>
            <a:ext cx="7981179" cy="405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223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CBA8-11D5-D65F-3F83-F59F385A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Demonstracija aplikacije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DC07-223F-0954-0AAD-901A9AD83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Fokus na izazove i rješenja:</a:t>
            </a:r>
            <a:br>
              <a:rPr lang="hr-HR" dirty="0"/>
            </a:br>
            <a:r>
              <a:rPr lang="hr-HR" dirty="0"/>
              <a:t>1.  Promjena podataka korisničkog profila</a:t>
            </a:r>
          </a:p>
          <a:p>
            <a:pPr marL="0" indent="0">
              <a:buNone/>
            </a:pPr>
            <a:r>
              <a:rPr lang="hr-HR" dirty="0"/>
              <a:t>	2.  Prijava na stranicu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6D2D5-F8F8-3548-34C0-61BDD7A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8602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0" i="0" dirty="0">
                <a:effectLst/>
                <a:latin typeface="-apple-system"/>
              </a:rPr>
              <a:t>Naš tim je prvenstveno naučio koliko je teško raditi u grupi. Organizacija i komunikacija su stvorile jedan od najvećih problema pri izradi ovog projekta, naravno uz nedostatak znanja o alatima koji su se koristili. Kada neki zadatak nije išao samostalno, uvijek smo ga pokušali </a:t>
            </a:r>
            <a:r>
              <a:rPr lang="hr-HR" b="0" i="0" dirty="0" err="1">
                <a:effectLst/>
                <a:latin typeface="-apple-system"/>
              </a:rPr>
              <a:t>rješiti</a:t>
            </a:r>
            <a:r>
              <a:rPr lang="hr-HR" b="0" i="0" dirty="0">
                <a:effectLst/>
                <a:latin typeface="-apple-system"/>
              </a:rPr>
              <a:t> zajedničkim snagama, bilo to uspješno ili neuspješno. Smatramo da smo projekt mogli odraditi puno uspješnije, ali ne zato jer se nismo dovoljno trudili, nego nam je nedostajalo iskustvo u timskom radu i kvalitetnoj raspodjeli zadataka te pravovremenoj komunikaciji o problemima na koje smo naišli.</a:t>
            </a:r>
            <a:endParaRPr lang="hr-HR" noProof="0" dirty="0">
              <a:sym typeface="Wingdings" panose="05000000000000000000" pitchFamily="2" charset="2"/>
            </a:endParaRP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1497</TotalTime>
  <Words>786</Words>
  <Application>Microsoft Office PowerPoint</Application>
  <PresentationFormat>Prikaz na zaslonu (4:3)</PresentationFormat>
  <Paragraphs>144</Paragraphs>
  <Slides>14</Slides>
  <Notes>4</Notes>
  <HiddenSlides>0</HiddenSlides>
  <MMClips>0</MMClips>
  <ScaleCrop>false</ScaleCrop>
  <HeadingPairs>
    <vt:vector size="6" baseType="variant">
      <vt:variant>
        <vt:lpstr>Korišteni fontovi</vt:lpstr>
      </vt:variant>
      <vt:variant>
        <vt:i4>11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14</vt:i4>
      </vt:variant>
    </vt:vector>
  </HeadingPairs>
  <TitlesOfParts>
    <vt:vector size="27" baseType="lpstr">
      <vt:lpstr>-apple-system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Tahoma</vt:lpstr>
      <vt:lpstr>Wingdings</vt:lpstr>
      <vt:lpstr>Wingdings 2</vt:lpstr>
      <vt:lpstr>PROGI-template</vt:lpstr>
      <vt:lpstr>DividendVTI</vt:lpstr>
      <vt:lpstr>Cooking flamingoz</vt:lpstr>
      <vt:lpstr>Sadržaj</vt:lpstr>
      <vt:lpstr>Sadržaj</vt:lpstr>
      <vt:lpstr>Članovi grupe</vt:lpstr>
      <vt:lpstr>O projektu</vt:lpstr>
      <vt:lpstr>Pregled zahtjeva</vt:lpstr>
      <vt:lpstr>UML dijagram obrazaca uporabe</vt:lpstr>
      <vt:lpstr>Arhitektura sustava</vt:lpstr>
      <vt:lpstr>Ispitivanje</vt:lpstr>
      <vt:lpstr>Ispitivanje</vt:lpstr>
      <vt:lpstr>Korišteni alati i tehnologije</vt:lpstr>
      <vt:lpstr>Organizacija rada</vt:lpstr>
      <vt:lpstr>Demonstracija aplikacije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Antonio Gospodnetić</cp:lastModifiedBy>
  <cp:revision>123</cp:revision>
  <dcterms:created xsi:type="dcterms:W3CDTF">2016-01-18T13:10:52Z</dcterms:created>
  <dcterms:modified xsi:type="dcterms:W3CDTF">2026-01-27T13:20:32Z</dcterms:modified>
</cp:coreProperties>
</file>